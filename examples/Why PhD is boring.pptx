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CC5C8-26F6-62FA-E245-B3AB3B062C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4C925C-D160-396C-F435-225E3A0735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577C5-0668-3D5D-787F-29ABB7FAB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3FD94-0758-4A23-921F-4AC27AA2B021}" type="datetimeFigureOut">
              <a:rPr lang="en-US" smtClean="0"/>
              <a:t>13-02-2026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E3F7A-1B78-5BC8-90B0-9A366F79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3B32D-1F2E-FD20-0135-FDF9E7228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1DFF-5345-409B-8ACA-56E9CB16D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73913-2EB7-EB63-28CE-E430D177D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72995-F2C2-6D07-B131-428FFFBA9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C9C96-8112-46C4-7691-580396BB7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3FD94-0758-4A23-921F-4AC27AA2B021}" type="datetimeFigureOut">
              <a:rPr lang="en-US" smtClean="0"/>
              <a:t>13-02-2026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F84F0-3F24-C4F2-EFFD-2342DCFDA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54475-C8C4-FD12-7ED3-B0F97D7F3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1DFF-5345-409B-8ACA-56E9CB16D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210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3448E-9E77-AECB-A580-4A17494AB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6FDF1-1DAF-2D06-0562-61FC79B4F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2A416-C6A3-6ADF-DAE2-0D4B55382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3FD94-0758-4A23-921F-4AC27AA2B021}" type="datetimeFigureOut">
              <a:rPr lang="en-US" smtClean="0"/>
              <a:t>13-02-2026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6B747-7A2C-0C41-D04E-04EF2A8B8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148E8-E19F-81C9-C5D6-AE7FD70D7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1DFF-5345-409B-8ACA-56E9CB16D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187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F85F8-A409-4790-5F43-9DA452160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86D89-A7BA-B239-90CC-1F1A9516D1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210E06-5C7F-DB1A-9BEB-E4F24470A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22C060-2129-ED9E-957E-9854998F1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3FD94-0758-4A23-921F-4AC27AA2B021}" type="datetimeFigureOut">
              <a:rPr lang="en-US" smtClean="0"/>
              <a:t>13-02-2026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DE11C-53BD-A887-2CCD-C53AFEC9D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A0D87-75F4-D6EA-847A-01B3A96E8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1DFF-5345-409B-8ACA-56E9CB16D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492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F9291-4DE4-5975-6639-9DABD8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95AB9-E070-9271-5AA9-3B97B7E6B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67E63-64F5-B328-F144-53668B46B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637EA4-969D-8FD8-877E-1B9065561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8A923E-CEBA-4730-0A14-CD2C26C72E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BC4111-DB84-90D5-0B2B-91EBD195F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3FD94-0758-4A23-921F-4AC27AA2B021}" type="datetimeFigureOut">
              <a:rPr lang="en-US" smtClean="0"/>
              <a:t>13-02-2026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9173CE-B1ED-B16E-C535-4BED8C460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5054B9-F4C6-EAD2-4A2E-4CFA9438D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1DFF-5345-409B-8ACA-56E9CB16D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521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04025-1577-787A-76B4-DBFB4690F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124B49-FE30-4CFE-6404-A85F8C491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3FD94-0758-4A23-921F-4AC27AA2B021}" type="datetimeFigureOut">
              <a:rPr lang="en-US" smtClean="0"/>
              <a:t>13-02-2026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BDA65F-9374-D81C-451D-E8A1A9239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491BC0-5B99-78EB-6344-626988004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1DFF-5345-409B-8ACA-56E9CB16D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08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B0BB70-D2FA-609D-7A3E-CA53E4771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3FD94-0758-4A23-921F-4AC27AA2B021}" type="datetimeFigureOut">
              <a:rPr lang="en-US" smtClean="0"/>
              <a:t>13-02-2026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1FFF81-4237-9AC8-F58F-0CBB842CA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A4819-1506-D95F-10A9-F73E26921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1DFF-5345-409B-8ACA-56E9CB16D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009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31998-7654-FF42-79F0-4E883721B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A7E10-001D-6A1F-E156-F91FC1A39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3F6D7-9E1B-F0A7-AF15-FAF6BAB87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005AB-5C5C-BCFF-9E43-79A6C22AD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3FD94-0758-4A23-921F-4AC27AA2B021}" type="datetimeFigureOut">
              <a:rPr lang="en-US" smtClean="0"/>
              <a:t>13-02-2026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7CAB1-E89F-949C-BEF3-B74936C38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48D73-AF8E-07EA-79D3-4352EE80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1DFF-5345-409B-8ACA-56E9CB16D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558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CA14D-DF6B-B9CF-D5EA-BB55C2E73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E5BDCE-3E08-8E1B-6EB6-E41C23FDC4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7E2CD-BC65-A915-9E01-6BB5A8D1A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314E74-0EEC-AC0E-C1D7-694BF3503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3FD94-0758-4A23-921F-4AC27AA2B021}" type="datetimeFigureOut">
              <a:rPr lang="en-US" smtClean="0"/>
              <a:t>13-02-2026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81C9E-F98F-A3F5-03C1-738BD90DB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D05C57-CA82-BDE7-F89A-210AEF3A8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1DFF-5345-409B-8ACA-56E9CB16D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390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FEBC3-9FDC-3C18-40FC-40C6BC88E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CEF7B8-902F-CFEA-5956-FAF651A0F3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07A61-AB56-9E08-94DA-12E430C80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3FD94-0758-4A23-921F-4AC27AA2B021}" type="datetimeFigureOut">
              <a:rPr lang="en-US" smtClean="0"/>
              <a:t>13-02-2026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EE0A6-CDFC-575D-33DA-339A7F6FD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FE90A-7836-589A-B3A1-4A6EF17ED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1DFF-5345-409B-8ACA-56E9CB16D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754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8650D2-62D2-A94F-A445-192BA84C70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C19EC-B97F-E471-381F-06372C195F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B5DA6-56CD-A7FB-C887-447A8661D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3FD94-0758-4A23-921F-4AC27AA2B021}" type="datetimeFigureOut">
              <a:rPr lang="en-US" smtClean="0"/>
              <a:t>13-02-2026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DCCE6-46A1-2A78-EA22-0D7D146BB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A0A7A-15F4-86F5-7EB8-E1A957DA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1DFF-5345-409B-8ACA-56E9CB16D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44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5A39-026E-2132-0F4B-60C90F50B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C0D4E-5E44-F845-5C03-0CFA55525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2EE45-7F17-E62D-3106-C8D9D8B84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3FD94-0758-4A23-921F-4AC27AA2B021}" type="datetimeFigureOut">
              <a:rPr lang="en-US" smtClean="0"/>
              <a:t>13-02-2026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336EA-F544-1029-E401-B841351A8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A260C-7356-F79C-BEE8-1A9048EE9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1DFF-5345-409B-8ACA-56E9CB16D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73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18C00-06BE-3757-5A78-46C274E47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05EF1-663F-190E-85EB-F4A242CB1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C27DC-BAE9-07BB-903E-2E345E0434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43FD94-0758-4A23-921F-4AC27AA2B021}" type="datetimeFigureOut">
              <a:rPr lang="en-US" smtClean="0"/>
              <a:t>13-02-2026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764C2-4D1A-57EE-8B60-25EA1591B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0BC7D-E44D-ADDA-40B7-4665A0681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51DFF-5345-409B-8ACA-56E9CB16D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118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D4D84-7DD8-C6D5-ACF3-71CCEB5A15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Why PhD is boring?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F388C-34D6-A046-30CB-9612D770F6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Muhammad Wajeeh Uz Zaman</a:t>
            </a:r>
          </a:p>
        </p:txBody>
      </p:sp>
    </p:spTree>
    <p:extLst>
      <p:ext uri="{BB962C8B-B14F-4D97-AF65-F5344CB8AC3E}">
        <p14:creationId xmlns:p14="http://schemas.microsoft.com/office/powerpoint/2010/main" val="724235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79F97-6256-8788-EED4-4AEACE0CF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I. 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01478-03DA-D501-4D02-7292004E1D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â€¢ - **Introduction to PhD Program**: The presentation begins by explaining that the PhD program is often perceived negatively.</a:t>
            </a:r>
          </a:p>
          <a:p>
            <a:r>
              <a:rPr lang="en-US"/>
              <a:t>â€¢ - **Common Misconceptions**: It highlights several misconceptions about PhD work, such as it being the only path to a successful career.</a:t>
            </a:r>
          </a:p>
          <a:p>
            <a:r>
              <a:rPr lang="en-US"/>
              <a:t>â€¢ - **Lack of Immediate Gratification**: The outline points out that PhD research provides minimal immediate rewards or recognition.</a:t>
            </a:r>
          </a:p>
          <a:p>
            <a:r>
              <a:rPr lang="en-US"/>
              <a:t>â€¢ - **Isolation and Loneliness**: It discusses how PhD programs can be isolating, with limited opportunities for social interaction.</a:t>
            </a:r>
          </a:p>
          <a:p>
            <a:r>
              <a:rPr lang="en-US"/>
              <a:t>â€¢ - **Monotonous Work Environment**: The outline mentions the repetitive and often mundane tasks that characterize PhD research.</a:t>
            </a:r>
          </a:p>
          <a:p>
            <a:r>
              <a:rPr lang="en-US"/>
              <a:t>â€¢ - **High Expectations and Pressure**: It emphasizes the immense pressure and high expectations placed on PhD candidates.</a:t>
            </a:r>
          </a:p>
          <a:p>
            <a:r>
              <a:rPr lang="en-US"/>
              <a:t>â€¢ - **Limited Career Opportunities Post-Graduation**: The section concludes with a mention of limited job prospects for PhD holders in the real world.</a:t>
            </a:r>
          </a:p>
        </p:txBody>
      </p:sp>
    </p:spTree>
    <p:extLst>
      <p:ext uri="{BB962C8B-B14F-4D97-AF65-F5344CB8AC3E}">
        <p14:creationId xmlns:p14="http://schemas.microsoft.com/office/powerpoint/2010/main" val="1156137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6F356-CF07-A58B-7978-731310F78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A. Brief overview of the PhD journey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3453D-207D-A9AA-9FC5-FDBC1A62D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â€¢ - The PhD journey typically begins with an undergraduate degree in a relevant field.</a:t>
            </a:r>
          </a:p>
          <a:p>
            <a:r>
              <a:rPr lang="en-US"/>
              <a:t>â€¢ - Students then select and pursue a specialized area of study for their doctoral research.</a:t>
            </a:r>
          </a:p>
          <a:p>
            <a:r>
              <a:rPr lang="en-US"/>
              <a:t>â€¢ - The initial thesis proposal phase requires students to articulate their research objectives and methodology.</a:t>
            </a:r>
          </a:p>
          <a:p>
            <a:r>
              <a:rPr lang="en-US"/>
              <a:t>â€¢ - During the dissertation period, PhD candidates engage in original research, often collaborating with academic institutions or industry partners.</a:t>
            </a:r>
          </a:p>
          <a:p>
            <a:r>
              <a:rPr lang="en-US"/>
              <a:t>â€¢ - The journey is marked by rigorous coursework, seminars, and presentations to develop expertise in the chosen field.</a:t>
            </a:r>
          </a:p>
          <a:p>
            <a:r>
              <a:rPr lang="en-US"/>
              <a:t>â€¢ - PhD students must continuously adapt to new knowledge and methodologies, requiring a high level of intellectual curiosity and resilience.</a:t>
            </a:r>
          </a:p>
          <a:p>
            <a:r>
              <a:rPr lang="en-US"/>
              <a:t>â€¢ - The completion of a PhD involves defending the dissertation and receiving a degree from an accredited institution.</a:t>
            </a:r>
          </a:p>
        </p:txBody>
      </p:sp>
    </p:spTree>
    <p:extLst>
      <p:ext uri="{BB962C8B-B14F-4D97-AF65-F5344CB8AC3E}">
        <p14:creationId xmlns:p14="http://schemas.microsoft.com/office/powerpoint/2010/main" val="2701550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047BC-B6AC-EC0A-6FD1-F62561823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B. Main theme: Why PhDs can seem boring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1D469-2690-58B7-3807-2110796F0D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â€¢ - 📚 The lengthy duration of a PhD program often leads to disinterest as students perceive it as an extended period without immediate practical application.</a:t>
            </a:r>
          </a:p>
          <a:p>
            <a:r>
              <a:rPr lang="en-US"/>
              <a:t>â€¢ - 🌍 Limited exposure to diverse research fields can make the experience seem monotonous, as students may only explore one or two areas extensively.</a:t>
            </a:r>
          </a:p>
          <a:p>
            <a:r>
              <a:rPr lang="en-US"/>
              <a:t>â€¢ - ⏰ Constantly writing research papers and defending them in seminars can be tedious, especially for those who struggle with critical thinking and communication.</a:t>
            </a:r>
          </a:p>
          <a:p>
            <a:r>
              <a:rPr lang="en-US"/>
              <a:t>â€¢ - 📉 The pressure to publish papers in top-tier journals can create a stressful environment that discourages creativity and curiosity.</a:t>
            </a:r>
          </a:p>
          <a:p>
            <a:r>
              <a:rPr lang="en-US"/>
              <a:t>â€¢ - 🤔 PhDs often involve working with complex theories and abstract concepts, which may not resonate with students' real-world experiences or interests.</a:t>
            </a:r>
          </a:p>
          <a:p>
            <a:r>
              <a:rPr lang="en-US"/>
              <a:t>â€¢ - 🧑‍🔬 Limited opportunities for networking and collaboration outside the lab can make the academic environment feel isolated and less engaging.</a:t>
            </a:r>
          </a:p>
          <a:p>
            <a:r>
              <a:rPr lang="en-US"/>
              <a:t>â€¢ - ⏳ The lack of job prospects immediately after completing a PhD can cause dissatisfaction, as many feel their time investment is not yielding immediate results.</a:t>
            </a:r>
          </a:p>
        </p:txBody>
      </p:sp>
    </p:spTree>
    <p:extLst>
      <p:ext uri="{BB962C8B-B14F-4D97-AF65-F5344CB8AC3E}">
        <p14:creationId xmlns:p14="http://schemas.microsoft.com/office/powerpoint/2010/main" val="879120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644EC-0174-D817-5D10-8AE7D9C94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II. The Monotony of Research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A515B-55E6-0C43-BF63-384C893E8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â€¢ - The research process often involves repetitive tasks like data collection and analysis, which can become monotonous.</a:t>
            </a:r>
          </a:p>
          <a:p>
            <a:r>
              <a:rPr lang="en-US"/>
              <a:t>â€¢ - PhD students typically spend long hours writing lengthy papers and defending their theses, leading to a tedious routine.</a:t>
            </a:r>
          </a:p>
          <a:p>
            <a:r>
              <a:rPr lang="en-US"/>
              <a:t>â€¢ - The lack of immediate feedback or recognition from peers and mentors can make the research phase feel isolating and unenergizing.</a:t>
            </a:r>
          </a:p>
          <a:p>
            <a:r>
              <a:rPr lang="en-US"/>
              <a:t>â€¢ - Continuous reading of complex literature and theoretical concepts can drain cognitive resources and lead to mental fatigue.</a:t>
            </a:r>
          </a:p>
          <a:p>
            <a:r>
              <a:rPr lang="en-US"/>
              <a:t>â€¢ - Repeatedly facing similar problems or challenges without novel solutions can diminish enthusiasm for ongoing research.</a:t>
            </a:r>
          </a:p>
          <a:p>
            <a:r>
              <a:rPr lang="en-US"/>
              <a:t>â€¢ - The pressure to publish and secure funding often results in an overwhelming workload, contributing to the perception of monotony.</a:t>
            </a:r>
          </a:p>
          <a:p>
            <a:r>
              <a:rPr lang="en-US"/>
              <a:t>â€¢ - Limited opportunities for creative exploration or interdisciplinary collaboration can make the research environment feel stagnant.</a:t>
            </a:r>
          </a:p>
        </p:txBody>
      </p:sp>
    </p:spTree>
    <p:extLst>
      <p:ext uri="{BB962C8B-B14F-4D97-AF65-F5344CB8AC3E}">
        <p14:creationId xmlns:p14="http://schemas.microsoft.com/office/powerpoint/2010/main" val="2535074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79C62-DF5E-2493-5163-9C7DDBEC7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A. Repetitive data collection and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26AA9-6000-A17B-ED25-C8DD1D1CB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â€¢ - A. Repetitive data collection often involves gathering similar information multiple times, leading to a monotonous process.</a:t>
            </a:r>
          </a:p>
          <a:p>
            <a:r>
              <a:rPr lang="en-US"/>
              <a:t>â€¢ - B. The analysis phase frequently entails the same statistical tests and methodologies, resulting in a lack of novel insights.</a:t>
            </a:r>
          </a:p>
          <a:p>
            <a:r>
              <a:rPr lang="en-US"/>
              <a:t>â€¢ - C. Researchers may spend more time refining their research questions rather than exploring new avenues of study due to repetitive tasks.</a:t>
            </a:r>
          </a:p>
          <a:p>
            <a:r>
              <a:rPr lang="en-US"/>
              <a:t>â€¢ - D. Repetitive data handling can lead to increased processing times and higher resource consumption, reducing overall efficiency.</a:t>
            </a:r>
          </a:p>
          <a:p>
            <a:r>
              <a:rPr lang="en-US"/>
              <a:t>â€¢ - E. The need for constant data validation and cleaning contributes to the tediousness of the data collection and analysis process.</a:t>
            </a:r>
          </a:p>
          <a:p>
            <a:r>
              <a:rPr lang="en-US"/>
              <a:t>â€¢ - F. PhD students may find themselves stuck in a cycle of similar tasks, hindering creativity and innovative thinking.</a:t>
            </a:r>
          </a:p>
          <a:p>
            <a:r>
              <a:rPr lang="en-US"/>
              <a:t>â€¢ - G. Repetitive tasks can lead to burnout and decreased motivation, impacting the overall quality of research produced.</a:t>
            </a:r>
          </a:p>
        </p:txBody>
      </p:sp>
    </p:spTree>
    <p:extLst>
      <p:ext uri="{BB962C8B-B14F-4D97-AF65-F5344CB8AC3E}">
        <p14:creationId xmlns:p14="http://schemas.microsoft.com/office/powerpoint/2010/main" val="474777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F3145-7825-B9B2-D49C-034F5B918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B. Lack of immediate practical application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96AED-1ACC-1A86-AFDF-A2F1F0F40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â€¢ - The PhD program often lacks tangible, immediate practical applications that directly impact society or personal life.</a:t>
            </a:r>
          </a:p>
          <a:p>
            <a:r>
              <a:rPr lang="en-US"/>
              <a:t>â€¢ - Students may find themselves spending years researching topics with limited opportunities to apply their findings in real-world scenarios.</a:t>
            </a:r>
          </a:p>
          <a:p>
            <a:r>
              <a:rPr lang="en-US"/>
              <a:t>â€¢ - There's a common misconception that PhD research is purely academic and disconnected from any practical use, leading to a lack of motivation among students.</a:t>
            </a:r>
          </a:p>
          <a:p>
            <a:r>
              <a:rPr lang="en-US"/>
              <a:t>â€¢ - The time spent on PhD studies could be better utilized for gaining hands-on experience through internships, co-op programs, or entrepreneurial ventures.</a:t>
            </a:r>
          </a:p>
          <a:p>
            <a:r>
              <a:rPr lang="en-US"/>
              <a:t>â€¢ - PhD candidates might struggle with the gap between their theoretical knowledge and the practical skills required in the job market after graduation.</a:t>
            </a:r>
          </a:p>
          <a:p>
            <a:r>
              <a:rPr lang="en-US"/>
              <a:t>â€¢ - The absence of immediate practical application can lead to prolonged periods of unemployment or underemployment post-PhD completion.</a:t>
            </a:r>
          </a:p>
          <a:p>
            <a:r>
              <a:rPr lang="en-US"/>
              <a:t>â€¢ - Students may lose interest and enthusiasm for their studies if they perceive no clear path towards a rewarding, practical career after completing their PhD.</a:t>
            </a:r>
          </a:p>
        </p:txBody>
      </p:sp>
    </p:spTree>
    <p:extLst>
      <p:ext uri="{BB962C8B-B14F-4D97-AF65-F5344CB8AC3E}">
        <p14:creationId xmlns:p14="http://schemas.microsoft.com/office/powerpoint/2010/main" val="3512837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5D56-D6E6-419F-850E-3C7C25DD5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C. Limited scope compared to other fields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0DDE9-46F1-534C-1306-E63D570DE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â€¢ - C. Limited scope compared to other fields: PhD programs often focus on narrowly defined areas of research.</a:t>
            </a:r>
          </a:p>
          <a:p>
            <a:r>
              <a:rPr lang="en-US"/>
              <a:t>â€¢ - Many PhD programs lack diverse research opportunities, limiting exposure to various scientific disciplines.</a:t>
            </a:r>
          </a:p>
          <a:p>
            <a:r>
              <a:rPr lang="en-US"/>
              <a:t>â€¢ - Students may find their interests and skills not fully explored within the confines of their specific field.</a:t>
            </a:r>
          </a:p>
          <a:p>
            <a:r>
              <a:rPr lang="en-US"/>
              <a:t>â€¢ - The emphasis on specialized knowledge can hinder the development of interdisciplinary skills and broader understanding.</a:t>
            </a:r>
          </a:p>
          <a:p>
            <a:r>
              <a:rPr lang="en-US"/>
              <a:t>â€¢ - Limited scope can lead to a sense of stagnation for students who are eager to explore and expand their knowledge.</a:t>
            </a:r>
          </a:p>
          <a:p>
            <a:r>
              <a:rPr lang="en-US"/>
              <a:t>â€¢ - In contrast, other fields like medicine or engineering offer more expansive career paths and continuous learning opportunities.</a:t>
            </a:r>
          </a:p>
          <a:p>
            <a:r>
              <a:rPr lang="en-US"/>
              <a:t>â€¢ - Students might feel pressured to conform to the program's narrow focus rather than pursuing their personal research interests.</a:t>
            </a:r>
          </a:p>
        </p:txBody>
      </p:sp>
    </p:spTree>
    <p:extLst>
      <p:ext uri="{BB962C8B-B14F-4D97-AF65-F5344CB8AC3E}">
        <p14:creationId xmlns:p14="http://schemas.microsoft.com/office/powerpoint/2010/main" val="4089613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9C432-6CDF-8775-A920-2BE03C4AA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III. Long-term Commitment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F7E3F-ECA3-4CBC-280B-1A242A1A6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â€¢ - The PhD program often spans 6-7 years, demanding a long-term commitment from students.</a:t>
            </a:r>
          </a:p>
          <a:p>
            <a:r>
              <a:rPr lang="en-US"/>
              <a:t>â€¢ - During this period, students must dedicate significant time and energy towards research, writing, and teaching.</a:t>
            </a:r>
          </a:p>
          <a:p>
            <a:r>
              <a:rPr lang="en-US"/>
              <a:t>â€¢ - Long-term commitment can lead to burnout, as students face continuous stress, pressure, and limited leisure time.</a:t>
            </a:r>
          </a:p>
          <a:p>
            <a:r>
              <a:rPr lang="en-US"/>
              <a:t>â€¢ - The financial burden of tuition fees, living expenses, and lost income during the PhD process further complicates the commitment.</a:t>
            </a:r>
          </a:p>
          <a:p>
            <a:r>
              <a:rPr lang="en-US"/>
              <a:t>â€¢ - Students may feel a loss of personal identity and social connections due to the prolonged isolation common in PhD programs.</a:t>
            </a:r>
          </a:p>
          <a:p>
            <a:r>
              <a:rPr lang="en-US"/>
              <a:t>â€¢ - The commitment required often means students must make sacrifices in other areas of life, such as career advancement or personal growth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1064113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A9C7B-62C2-C7FA-39B1-EDB20DD47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A. Time-intensive process (often 4-7 years)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2D3A5-0D51-B9B1-68BF-D8253C054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â€¢ • A PhD program typically requires four to seven years of dedicated study and research.</a:t>
            </a:r>
          </a:p>
          <a:p>
            <a:r>
              <a:rPr lang="en-US"/>
              <a:t>â€¢ • This lengthy duration significantly impacts the time available for other personal and professional pursuits.</a:t>
            </a:r>
          </a:p>
          <a:p>
            <a:r>
              <a:rPr lang="en-US"/>
              <a:t>â€¢ • The extended period often leads to delayed career entry, potentially affecting financial stability.</a:t>
            </a:r>
          </a:p>
          <a:p>
            <a:r>
              <a:rPr lang="en-US"/>
              <a:t>â€¢ • Students may face continuous pressure and stress throughout the entire duration, impacting mental health.</a:t>
            </a:r>
          </a:p>
          <a:p>
            <a:r>
              <a:rPr lang="en-US"/>
              <a:t>â€¢ • The time-intensive process can result in missed opportunities for travel, networking, or learning other skills.</a:t>
            </a:r>
          </a:p>
          <a:p>
            <a:r>
              <a:rPr lang="en-US"/>
              <a:t>â€¢ • Potential delays in publishing research findings due to the lengthy completion time can be frustrating and demotivating.</a:t>
            </a:r>
          </a:p>
        </p:txBody>
      </p:sp>
    </p:spTree>
    <p:extLst>
      <p:ext uri="{BB962C8B-B14F-4D97-AF65-F5344CB8AC3E}">
        <p14:creationId xmlns:p14="http://schemas.microsoft.com/office/powerpoint/2010/main" val="4080180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8CF80-7D1F-BDC7-D078-B0B39813C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B. Financial burden over the duration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17907-2692-CA9B-A334-FD110F5CA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â€¢ - The financial burden of pursuing a PhD often begins early due to high tuition fees charged by top universities.</a:t>
            </a:r>
          </a:p>
          <a:p>
            <a:r>
              <a:rPr lang="en-US"/>
              <a:t>â€¢ - Students frequently face substantial loan debt, which can take years or even decades to pay off after completing their degree.</a:t>
            </a:r>
          </a:p>
          <a:p>
            <a:r>
              <a:rPr lang="en-US"/>
              <a:t>â€¢ - Ongoing expenses such as textbooks, lab supplies, and living costs add up, further increasing the financial strain on PhD candidates.</a:t>
            </a:r>
          </a:p>
          <a:p>
            <a:r>
              <a:rPr lang="en-US"/>
              <a:t>â€¢ - Many PhD programs require working part-time or in research positions, reducing the amount of time available for studying and increasing stress levels.</a:t>
            </a:r>
          </a:p>
          <a:p>
            <a:r>
              <a:rPr lang="en-US"/>
              <a:t>â€¢ - The uncertainty of job placement post-graduation can lead to indefinite periods of financial instability, exacerbating the burden.</a:t>
            </a:r>
          </a:p>
          <a:p>
            <a:r>
              <a:rPr lang="en-US"/>
              <a:t>â€¢ - Some PhD programs may not offer adequate financial support or stipends, leaving students to rely solely on their own funds.</a:t>
            </a:r>
          </a:p>
          <a:p>
            <a:r>
              <a:rPr lang="en-US"/>
              <a:t>â€¢ - The long duration (often 4-6 years) of PhD studies means that students must manage significant financial commitments throughout their entire academic career.</a:t>
            </a:r>
          </a:p>
        </p:txBody>
      </p:sp>
    </p:spTree>
    <p:extLst>
      <p:ext uri="{BB962C8B-B14F-4D97-AF65-F5344CB8AC3E}">
        <p14:creationId xmlns:p14="http://schemas.microsoft.com/office/powerpoint/2010/main" val="2398119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C6D9-78D3-F03A-965B-1D984C44C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C. Limited career progression opportunities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574D8-F4FF-929D-EAE7-C89886739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â€¢ - Limited career progression: PhD holders often face restricted upward mobility in their chosen fields.</a:t>
            </a:r>
          </a:p>
          <a:p>
            <a:r>
              <a:rPr lang="en-US"/>
              <a:t>â€¢ - Lack of guaranteed job security: The PhD degree does not inherently guarantee employment or stable income.</a:t>
            </a:r>
          </a:p>
          <a:p>
            <a:r>
              <a:rPr lang="en-US"/>
              <a:t>â€¢ - Fewer corporate roles: The majority of high-paying corporate positions do not require a PhD, limiting job prospects.</a:t>
            </a:r>
          </a:p>
          <a:p>
            <a:r>
              <a:rPr lang="en-US"/>
              <a:t>â€¢ - Academic job market saturation: A large number of PhD graduates enter academia, leading to intense competition for limited positions.</a:t>
            </a:r>
          </a:p>
          <a:p>
            <a:r>
              <a:rPr lang="en-US"/>
              <a:t>â€¢ - Post-doctoral opportunities scarce: The transition from academic research to industry is often challenging, with fewer available post-doctoral positions.</a:t>
            </a:r>
          </a:p>
          <a:p>
            <a:r>
              <a:rPr lang="en-US"/>
              <a:t>â€¢ - Non-monetary career advancement: PhD holders may struggle to achieve significant career growth through non-monetary means such as networking or entrepreneurship.</a:t>
            </a:r>
          </a:p>
          <a:p>
            <a:r>
              <a:rPr lang="en-US"/>
              <a:t>â€¢ - Limited opportunities for specialized roles: The broad focus of PhD programs can limit specialization and access to niche, high-demand roles.</a:t>
            </a:r>
          </a:p>
        </p:txBody>
      </p:sp>
    </p:spTree>
    <p:extLst>
      <p:ext uri="{BB962C8B-B14F-4D97-AF65-F5344CB8AC3E}">
        <p14:creationId xmlns:p14="http://schemas.microsoft.com/office/powerpoint/2010/main" val="3500026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7EB14-71DC-DF91-9819-E0F01528B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IV. Limited Job Market Satisfaction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9456AB-DF77-5C09-1740-D8A3BECEA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â€¢ - The limited job market satisfaction of PhD holders often stems from an abundance of available positions in other fields.</a:t>
            </a:r>
          </a:p>
          <a:p>
            <a:r>
              <a:rPr lang="en-US"/>
              <a:t>â€¢ - Many PhD graduates face difficulties finding employment that matches their specialized skills and expertise.</a:t>
            </a:r>
          </a:p>
          <a:p>
            <a:r>
              <a:rPr lang="en-US"/>
              <a:t>â€¢ - Despite their academic achievements, PhD holders may struggle to secure jobs in their desired industries or sectors.</a:t>
            </a:r>
          </a:p>
          <a:p>
            <a:r>
              <a:rPr lang="en-US"/>
              <a:t>â€¢ - The long-term job satisfaction for PhD graduates is often lower than initially anticipated due to prolonged periods without steady employment.</a:t>
            </a:r>
          </a:p>
          <a:p>
            <a:r>
              <a:rPr lang="en-US"/>
              <a:t>â€¢ - Limited job market satisfaction can lead to PhD holders feeling underutilized and underappreciated in their professional lives.</a:t>
            </a:r>
          </a:p>
          <a:p>
            <a:r>
              <a:rPr lang="en-US"/>
              <a:t>â€¢ - The competition for entry-level positions is high, which can deter potential job seekers from pursuing PhD degrees.</a:t>
            </a:r>
          </a:p>
          <a:p>
            <a:r>
              <a:rPr lang="en-US"/>
              <a:t>â€¢ - Many PhD graduates end up in jobs that require less specialized knowledge than their academic background suggests, leading to dissatisfaction.</a:t>
            </a:r>
          </a:p>
        </p:txBody>
      </p:sp>
    </p:spTree>
    <p:extLst>
      <p:ext uri="{BB962C8B-B14F-4D97-AF65-F5344CB8AC3E}">
        <p14:creationId xmlns:p14="http://schemas.microsoft.com/office/powerpoint/2010/main" val="1895913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D8816-A44D-20E7-2249-67ACD09BE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A. Uncertainty in post-PhD job availability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D404D-36EA-22E9-E168-FAC7DAD771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â€¢ • Post-Doctoral graduates often face an uncertain job market due to the decline in traditional academic positions.</a:t>
            </a:r>
          </a:p>
          <a:p>
            <a:r>
              <a:rPr lang="en-US"/>
              <a:t>â€¢ • Many PhD holders struggle to find job opportunities within academia, leading to prolonged job search periods.</a:t>
            </a:r>
          </a:p>
          <a:p>
            <a:r>
              <a:rPr lang="en-US"/>
              <a:t>â€¢ • The competitive nature of the job market makes it challenging for PhD graduates to secure stable, long-term employment.</a:t>
            </a:r>
          </a:p>
          <a:p>
            <a:r>
              <a:rPr lang="en-US"/>
              <a:t>â€¢ • Some PhD holders opt for non-academic careers, sacrificing the academic freedom they once sought.</a:t>
            </a:r>
          </a:p>
          <a:p>
            <a:r>
              <a:rPr lang="en-US"/>
              <a:t>â€¢ • The lack of guaranteed employment can lead to financial instability and stress for post-Doctoral professionals.</a:t>
            </a:r>
          </a:p>
          <a:p>
            <a:r>
              <a:rPr lang="en-US"/>
              <a:t>â€¢ • Career paths for PhD graduates may not align with their original research interests, causing dissatisfaction.</a:t>
            </a:r>
          </a:p>
          <a:p>
            <a:r>
              <a:rPr lang="en-US"/>
              <a:t>â€¢ • The uncertainty in post-PhD job availability can discourage individuals from pursuing advanced degrees, perpetuating the cycle.</a:t>
            </a:r>
          </a:p>
        </p:txBody>
      </p:sp>
    </p:spTree>
    <p:extLst>
      <p:ext uri="{BB962C8B-B14F-4D97-AF65-F5344CB8AC3E}">
        <p14:creationId xmlns:p14="http://schemas.microsoft.com/office/powerpoint/2010/main" val="277397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A1063-2DF5-F75E-504B-D1F0F7F73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B. Low pay compared to related fields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3A415-675F-3980-0492-5AA076C3B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â€¢ - 📉 Low pay for PhD graduates compared to entry-level positions in related fields.</a:t>
            </a:r>
          </a:p>
          <a:p>
            <a:r>
              <a:rPr lang="en-US"/>
              <a:t>â€¢ - 💼 PhD salaries often fall significantly below average earnings for similar roles.</a:t>
            </a:r>
          </a:p>
          <a:p>
            <a:r>
              <a:rPr lang="en-US"/>
              <a:t>â€¢ - 📊 Limited job opportunities in high-paying industries for PhD holders.</a:t>
            </a:r>
          </a:p>
          <a:p>
            <a:r>
              <a:rPr lang="en-US"/>
              <a:t>â€¢ - 💸 Many PhD graduates face financial struggles post-graduation due to low initial compensation.</a:t>
            </a:r>
          </a:p>
          <a:p>
            <a:r>
              <a:rPr lang="en-US"/>
              <a:t>â€¢ - 🧑‍💻 Insufficient industry demand for PhD expertise in certain sectors results in lower pay.</a:t>
            </a:r>
          </a:p>
          <a:p>
            <a:r>
              <a:rPr lang="en-US"/>
              <a:t>â€¢ - 🔄 PhD candidates frequently struggle with underemployment, leading to reduced income potential.</a:t>
            </a:r>
          </a:p>
        </p:txBody>
      </p:sp>
    </p:spTree>
    <p:extLst>
      <p:ext uri="{BB962C8B-B14F-4D97-AF65-F5344CB8AC3E}">
        <p14:creationId xmlns:p14="http://schemas.microsoft.com/office/powerpoint/2010/main" val="1760180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9FA30-EC86-9350-E5A2-D1616E2E9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C. Perception of PhD as a dead-end profession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94ED72-B8C5-4780-10F9-BF30A11EED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â€¢ - The perception that PhD leads to a dead-end profession often stems from the limited job opportunities available after graduation.</a:t>
            </a:r>
          </a:p>
          <a:p>
            <a:r>
              <a:rPr lang="en-US"/>
              <a:t>â€¢ - Many PhD holders find themselves underemployed or transitioning into roles with less satisfaction than their academic careers offered.</a:t>
            </a:r>
          </a:p>
          <a:p>
            <a:r>
              <a:rPr lang="en-US"/>
              <a:t>â€¢ - The expectation of a lifetime in academia can discourage individuals from exploring diverse career paths outside research.</a:t>
            </a:r>
          </a:p>
          <a:p>
            <a:r>
              <a:rPr lang="en-US"/>
              <a:t>â€¢ - The high cost of pursuing a PhD and the potential loss of income can make the profession financially unattractive for some.</a:t>
            </a:r>
          </a:p>
          <a:p>
            <a:r>
              <a:rPr lang="en-US"/>
              <a:t>â€¢ - The lack of immediate financial rewards or career advancement can deter prospective students from committing to a PhD program.</a:t>
            </a:r>
          </a:p>
          <a:p>
            <a:r>
              <a:rPr lang="en-US"/>
              <a:t>â€¢ - Stereotypes about PhD graduates being socially isolated or lacking practical skills can negatively influence perceptions, leading to a fear of being 'stuck' in academia.</a:t>
            </a:r>
          </a:p>
        </p:txBody>
      </p:sp>
    </p:spTree>
    <p:extLst>
      <p:ext uri="{BB962C8B-B14F-4D97-AF65-F5344CB8AC3E}">
        <p14:creationId xmlns:p14="http://schemas.microsoft.com/office/powerpoint/2010/main" val="406646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401E0-A91B-C9D8-0459-27652F01E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V. Lack of Personal Fulfillment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5BD1C-6707-8FFC-5485-9C984C6E1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â€¢ - ��PhD programs often demand extensive time and effort, leading to burnout and reduced personal satisfaction.</a:t>
            </a:r>
          </a:p>
          <a:p>
            <a:r>
              <a:rPr lang="en-US"/>
              <a:t>â€¢ - ��The monotonous routine of research and coursework can strip away the excitement and curiosity that initially drew students to academia.</a:t>
            </a:r>
          </a:p>
          <a:p>
            <a:r>
              <a:rPr lang="en-US"/>
              <a:t>â€¢ - ��Many PhD students report feeling disconnected from their work, lacking a clear purpose or sense of fulfillment in their research.</a:t>
            </a:r>
          </a:p>
          <a:p>
            <a:r>
              <a:rPr lang="en-US"/>
              <a:t>â€¢ - ��The competitive nature of PhD programs can foster an environment where collaboration is stifled, diminishing the potential for personal growth and satisfaction.</a:t>
            </a:r>
          </a:p>
          <a:p>
            <a:r>
              <a:rPr lang="en-US"/>
              <a:t>â€¢ - ��PhD graduates may find it challenging to transition back into traditional careers, leading to feelings of underemployment and dissatisfaction.</a:t>
            </a:r>
          </a:p>
          <a:p>
            <a:r>
              <a:rPr lang="en-US"/>
              <a:t>â€¢ - ��The high expectations placed on PhD students can result in chronic stress and anxiety, further eroding their sense of fulfillment.</a:t>
            </a:r>
          </a:p>
          <a:p>
            <a:r>
              <a:rPr lang="en-US"/>
              <a:t>â€¢ - ��Ultimately, the pursuit of a PhD might lead some individuals to question whether the academic journey is truly worth the personal sacrifice, causing them to feel unfulfilled.</a:t>
            </a:r>
          </a:p>
        </p:txBody>
      </p:sp>
    </p:spTree>
    <p:extLst>
      <p:ext uri="{BB962C8B-B14F-4D97-AF65-F5344CB8AC3E}">
        <p14:creationId xmlns:p14="http://schemas.microsoft.com/office/powerpoint/2010/main" val="3455653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F537F-21F9-3FB4-3F5A-F83C46017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A. Difficulty in applying research findings in real-life situations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DD8CE-0B69-76FB-E1AA-625D4DC1D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â€¢ - ��PhD research often involves highly specialized knowledge that may not directly translate to practical applications.</a:t>
            </a:r>
          </a:p>
          <a:p>
            <a:r>
              <a:rPr lang="en-US"/>
              <a:t>â€¢ - ��Students might struggle to identify or articulate real-world problems that their research findings can solve.</a:t>
            </a:r>
          </a:p>
          <a:p>
            <a:r>
              <a:rPr lang="en-US"/>
              <a:t>â€¢ - ��The academic environment of PhD programs prioritizes theoretical understanding over practical skills and problem-solving abilities.</a:t>
            </a:r>
          </a:p>
          <a:p>
            <a:r>
              <a:rPr lang="en-US"/>
              <a:t>â€¢ - ��Limited funding and resources in academic settings can hinder the development and implementation of applied research projects.</a:t>
            </a:r>
          </a:p>
          <a:p>
            <a:r>
              <a:rPr lang="en-US"/>
              <a:t>â€¢ - ��Graduates may face challenges in communicating complex research results to non-expert stakeholders, such as business executives or policymakers.</a:t>
            </a:r>
          </a:p>
          <a:p>
            <a:r>
              <a:rPr lang="en-US"/>
              <a:t>â€¢ - ��The time-consuming nature of PhD work often delays or prevents students from seeing immediate practical benefits from their research.</a:t>
            </a:r>
          </a:p>
          <a:p>
            <a:r>
              <a:rPr lang="en-US"/>
              <a:t>â€¢ - ��Lack of exposure to industry partnerships or real-world case studies during PhD training can result in graduates being unprepared for applied roles.</a:t>
            </a:r>
          </a:p>
        </p:txBody>
      </p:sp>
    </p:spTree>
    <p:extLst>
      <p:ext uri="{BB962C8B-B14F-4D97-AF65-F5344CB8AC3E}">
        <p14:creationId xmlns:p14="http://schemas.microsoft.com/office/powerpoint/2010/main" val="2624460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F9CB9-1DD9-02BC-FF11-22C5BDDB9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B. Isolation from collaborative work environments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29D06-5544-B90B-4F35-8316FCBC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â€¢ - In a PhD program, students often experience significant isolation due to the solitary nature of research.</a:t>
            </a:r>
          </a:p>
          <a:p>
            <a:r>
              <a:rPr lang="en-US"/>
              <a:t>â€¢ - The primary focus shifts from teamwork and peer learning to individual study and research, diminishing collaborative opportunities.</a:t>
            </a:r>
          </a:p>
          <a:p>
            <a:r>
              <a:rPr lang="en-US"/>
              <a:t>â€¢ - Limited access to immediate feedback and diverse perspectives can hinder intellectual growth and problem-solving skills.</a:t>
            </a:r>
          </a:p>
          <a:p>
            <a:r>
              <a:rPr lang="en-US"/>
              <a:t>â€¢ - Social interaction and networking opportunities are greatly reduced, impacting future career prospects in academia or industry.</a:t>
            </a:r>
          </a:p>
          <a:p>
            <a:r>
              <a:rPr lang="en-US"/>
              <a:t>â€¢ - PhD students may struggle with maintaining a work-life balance as they dedicate most of their time to solitary research activities.</a:t>
            </a:r>
          </a:p>
          <a:p>
            <a:r>
              <a:rPr lang="en-US"/>
              <a:t>â€¢ - The absence of regular group projects or team assignments can lead to feelings of alienation and disengagement from the academic community.</a:t>
            </a:r>
          </a:p>
          <a:p>
            <a:r>
              <a:rPr lang="en-US"/>
              <a:t>â€¢ - Without structured group dynamics, PhD students might miss out on essential soft skills such as communication, negotiation, and conflict resolution.</a:t>
            </a:r>
          </a:p>
        </p:txBody>
      </p:sp>
    </p:spTree>
    <p:extLst>
      <p:ext uri="{BB962C8B-B14F-4D97-AF65-F5344CB8AC3E}">
        <p14:creationId xmlns:p14="http://schemas.microsoft.com/office/powerpoint/2010/main" val="924412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3E8FF-FB02-5C5B-E5C8-6E80019F5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C. Stagnation of personal interests due to rigid academic focus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E6CE6-4F1B-7551-8C01-9671EB7A8F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â€¢ - The PhD program's intense academic focus often limits exposure to diverse fields and interests.</a:t>
            </a:r>
          </a:p>
          <a:p>
            <a:r>
              <a:rPr lang="en-US"/>
              <a:t>â€¢ - Students may find it challenging to pursue personal research interests outside of their core discipline.</a:t>
            </a:r>
          </a:p>
          <a:p>
            <a:r>
              <a:rPr lang="en-US"/>
              <a:t>â€¢ - Rigid academic structures can stifle creativity, discouraging exploration of novel ideas.</a:t>
            </a:r>
          </a:p>
          <a:p>
            <a:r>
              <a:rPr lang="en-US"/>
              <a:t>â€¢ - Prolonged concentration on a single topic can lead to burnout, reducing motivation for personal interests.</a:t>
            </a:r>
          </a:p>
          <a:p>
            <a:r>
              <a:rPr lang="en-US"/>
              <a:t>â€¢ - PhD students might miss out on interdisciplinary learning opportunities that could spark new passions.</a:t>
            </a:r>
          </a:p>
          <a:p>
            <a:r>
              <a:rPr lang="en-US"/>
              <a:t>â€¢ - The pressure to publish frequently can overshadow individual research interests and hobbies.</a:t>
            </a:r>
          </a:p>
          <a:p>
            <a:r>
              <a:rPr lang="en-US"/>
              <a:t>â€¢ - Without time for exploration, PhD candidates may lose touch with their curiosity and drive for personal growth.</a:t>
            </a:r>
          </a:p>
        </p:txBody>
      </p:sp>
    </p:spTree>
    <p:extLst>
      <p:ext uri="{BB962C8B-B14F-4D97-AF65-F5344CB8AC3E}">
        <p14:creationId xmlns:p14="http://schemas.microsoft.com/office/powerpoint/2010/main" val="4716271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5BAA3-EE22-4AE9-9F79-2E6E5F4E0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VI. The Pressure to Publish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49183-F2CA-BF8E-5A6A-5580163C9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â€¢ - The pressure to publish PhD papers often leads students into a relentless cycle of writing, reviewing, and editing.</a:t>
            </a:r>
          </a:p>
          <a:p>
            <a:r>
              <a:rPr lang="en-US"/>
              <a:t>â€¢ - Many PhD students face the daunting task of meeting stringent publication deadlines, which can overshadow the actual learning process.</a:t>
            </a:r>
          </a:p>
          <a:p>
            <a:r>
              <a:rPr lang="en-US"/>
              <a:t>â€¢ - The fear of rejection from journals or reviewers can induce significant stress and anxiety among PhD candidates.</a:t>
            </a:r>
          </a:p>
          <a:p>
            <a:r>
              <a:rPr lang="en-US"/>
              <a:t>â€¢ - The competitive nature of academic publishing may result in PhD students prioritizing quantity over quality in their publications.</a:t>
            </a:r>
          </a:p>
          <a:p>
            <a:r>
              <a:rPr lang="en-US"/>
              <a:t>â€¢ - The emphasis on high-impact factor journals can lead to a narrow focus, limiting the exploration of diverse research topics.</a:t>
            </a:r>
          </a:p>
          <a:p>
            <a:r>
              <a:rPr lang="en-US"/>
              <a:t>â€¢ - PhD students might feel compelled to publish in prestigious journals regardless of their personal interests or the relevance of the subject matter.</a:t>
            </a:r>
          </a:p>
          <a:p>
            <a:r>
              <a:rPr lang="en-US"/>
              <a:t>â€¢ - The pressure to publish can also discourage interdisciplinary research and collaboration, as it tends to favor single-discipline studies.</a:t>
            </a:r>
          </a:p>
        </p:txBody>
      </p:sp>
    </p:spTree>
    <p:extLst>
      <p:ext uri="{BB962C8B-B14F-4D97-AF65-F5344CB8AC3E}">
        <p14:creationId xmlns:p14="http://schemas.microsoft.com/office/powerpoint/2010/main" val="2491434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301D9-0D89-F220-DD65-C5F1346C6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A. High expectations for research output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20F16-D808-CECF-DAB5-8ABC86E88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â€¢ - Expectations for PhD students often include publishing numerous high-impact papers annually.</a:t>
            </a:r>
          </a:p>
          <a:p>
            <a:r>
              <a:rPr lang="en-US"/>
              <a:t>â€¢ - The pressure to secure high-profile grants and funding sources can lead to an overwhelming research output.</a:t>
            </a:r>
          </a:p>
          <a:p>
            <a:r>
              <a:rPr lang="en-US"/>
              <a:t>â€¢ - PhD students may feel compelled to publish in prestigious journals, even if the research isn't their best fit.</a:t>
            </a:r>
          </a:p>
          <a:p>
            <a:r>
              <a:rPr lang="en-US"/>
              <a:t>â€¢ - The race against other applicants to achieve publication can result in rushed and less thorough research.</a:t>
            </a:r>
          </a:p>
          <a:p>
            <a:r>
              <a:rPr lang="en-US"/>
              <a:t>â€¢ - Some students experience burnout due to the constant need to produce and maintain a high research output.</a:t>
            </a:r>
          </a:p>
          <a:p>
            <a:r>
              <a:rPr lang="en-US"/>
              <a:t>â€¢ - The academic community's emphasis on citation counts and research visibility may overshadow the intrinsic value of individual discoveries.</a:t>
            </a:r>
          </a:p>
          <a:p>
            <a:r>
              <a:rPr lang="en-US"/>
              <a:t>â€¢ - PhD students might feel isolated, as their work doesn't always translate into practical applications or career advancement.</a:t>
            </a:r>
          </a:p>
        </p:txBody>
      </p:sp>
    </p:spTree>
    <p:extLst>
      <p:ext uri="{BB962C8B-B14F-4D97-AF65-F5344CB8AC3E}">
        <p14:creationId xmlns:p14="http://schemas.microsoft.com/office/powerpoint/2010/main" val="39078229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954A2-908B-8BE8-F20B-E49D65000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B. Stress and anxiety from the publication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34940-AEB3-DF18-6EDA-9EDA59CA3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â€¢ - The PhD publication process often involves a lengthy and complex series of peer-reviewed manuscripts.</a:t>
            </a:r>
          </a:p>
          <a:p>
            <a:r>
              <a:rPr lang="en-US"/>
              <a:t>â€¢ - Candidates face constant pressure to meet deadlines, leading to heightened stress levels.</a:t>
            </a:r>
          </a:p>
          <a:p>
            <a:r>
              <a:rPr lang="en-US"/>
              <a:t>â€¢ - Rejection rates are high, contributing to anxiety and feelings of inadequacy among applicants.</a:t>
            </a:r>
          </a:p>
          <a:p>
            <a:r>
              <a:rPr lang="en-US"/>
              <a:t>â€¢ - The need for extensive revisions based on feedback from multiple reviewers can be mentally exhausting.</a:t>
            </a:r>
          </a:p>
          <a:p>
            <a:r>
              <a:rPr lang="en-US"/>
              <a:t>â€¢ - Navigating the intricate process of formatting, referencing, and adhering to specific guidelines adds to the overall stress.</a:t>
            </a:r>
          </a:p>
          <a:p>
            <a:r>
              <a:rPr lang="en-US"/>
              <a:t>â€¢ - The fear of making critical mistakes in final submissions can cause significant anxiety among PhD candidates.</a:t>
            </a:r>
          </a:p>
          <a:p>
            <a:r>
              <a:rPr lang="en-US"/>
              <a:t>â€¢ - Maintaining a balanced life while juggling academic responsibilities and personal life becomes increasingly challenging.</a:t>
            </a:r>
          </a:p>
        </p:txBody>
      </p:sp>
    </p:spTree>
    <p:extLst>
      <p:ext uri="{BB962C8B-B14F-4D97-AF65-F5344CB8AC3E}">
        <p14:creationId xmlns:p14="http://schemas.microsoft.com/office/powerpoint/2010/main" val="3636175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074C2-08C9-49DE-83EA-BDCBE0D34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C. Overemphasis on quantity over quality of publications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356C0-3345-2E90-5A57-1946EF965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â€¢ - The emphasis on publishing high numbers of articles often overshadows the importance of producing meaningful and impactful research.</a:t>
            </a:r>
          </a:p>
          <a:p>
            <a:r>
              <a:rPr lang="en-US"/>
              <a:t>â€¢ - PhD students may feel pressured to focus on quantity rather than the quality of their publications, leading to a dilution of their work's significance.</a:t>
            </a:r>
          </a:p>
          <a:p>
            <a:r>
              <a:rPr lang="en-US"/>
              <a:t>â€¢ - Overemphasis on publication count can result in repetitive research, as students aim to accumulate more papers instead of pursuing novel or innovative studies.</a:t>
            </a:r>
          </a:p>
          <a:p>
            <a:r>
              <a:rPr lang="en-US"/>
              <a:t>â€¢ - The pressure to publish frequently can lead to rushed research, which may compromise the validity and reliability of findings.</a:t>
            </a:r>
          </a:p>
          <a:p>
            <a:r>
              <a:rPr lang="en-US"/>
              <a:t>â€¢ - Quality publications are crucial for advancing knowledge in a field, and prioritizing quantity over quality may hinder progress and discourage original thought.</a:t>
            </a:r>
          </a:p>
          <a:p>
            <a:r>
              <a:rPr lang="en-US"/>
              <a:t>â€¢ - PhD programs might inadvertently create a culture where quantity is valued over depth, potentially discouraging students from taking risks or exploring uncharted territories in their research.</a:t>
            </a:r>
          </a:p>
          <a:p>
            <a:r>
              <a:rPr lang="en-US"/>
              <a:t>â€¢ - The focus on publication metrics can divert attention from other valuable aspects of academic work, such as teaching, mentoring, and interdisciplinary collaboration.</a:t>
            </a:r>
          </a:p>
        </p:txBody>
      </p:sp>
    </p:spTree>
    <p:extLst>
      <p:ext uri="{BB962C8B-B14F-4D97-AF65-F5344CB8AC3E}">
        <p14:creationId xmlns:p14="http://schemas.microsoft.com/office/powerpoint/2010/main" val="6961061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6B51A-CDAF-9471-4BA4-26ACE0D97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VII. 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2BC10-0F17-E6D0-644F-95A186DAF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â€¢ - The PhD journey often lacks immediate practical application, making it seem irrelevant to many students.</a:t>
            </a:r>
          </a:p>
          <a:p>
            <a:r>
              <a:rPr lang="en-US"/>
              <a:t>â€¢ - Research can become monotonous due to the extensive reading, data analysis, and writing required.</a:t>
            </a:r>
          </a:p>
          <a:p>
            <a:r>
              <a:rPr lang="en-US"/>
              <a:t>â€¢ - The pressure to publish papers and secure grants can lead to stress and anxiety, deterring potential candidates.</a:t>
            </a:r>
          </a:p>
          <a:p>
            <a:r>
              <a:rPr lang="en-US"/>
              <a:t>â€¢ - PhD programs often involve lengthy durations (5-7 years or more), causing frustration with slow progress.</a:t>
            </a:r>
          </a:p>
          <a:p>
            <a:r>
              <a:rPr lang="en-US"/>
              <a:t>â€¢ - Many graduates face limited job prospects post-graduation, questioning the worth of the investment made.</a:t>
            </a:r>
          </a:p>
          <a:p>
            <a:r>
              <a:rPr lang="en-US"/>
              <a:t>â€¢ - The competitive nature of PhD admissions can lead to feelings of isolation and lack of support among peers.</a:t>
            </a:r>
          </a:p>
          <a:p>
            <a:r>
              <a:rPr lang="en-US"/>
              <a:t>â€¢ - Alternative paths such as professional degrees or vocational training may seem more engaging and immediately rewarding for some individuals.</a:t>
            </a:r>
          </a:p>
        </p:txBody>
      </p:sp>
    </p:spTree>
    <p:extLst>
      <p:ext uri="{BB962C8B-B14F-4D97-AF65-F5344CB8AC3E}">
        <p14:creationId xmlns:p14="http://schemas.microsoft.com/office/powerpoint/2010/main" val="11785875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B017A-56E7-BDB0-46BE-D17FC6794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A. Summarize key points about PhD monotony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8DD01-9F69-3E3B-D507-C72F1DB70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â€¢ - The PhD process often involves repetitive and time-consuming tasks like literature review, data collection, and statistical analysis.</a:t>
            </a:r>
          </a:p>
          <a:p>
            <a:r>
              <a:rPr lang="en-US"/>
              <a:t>â€¢ - Students frequently report a lack of meaningful research impact due to the limited scope of their projects.</a:t>
            </a:r>
          </a:p>
          <a:p>
            <a:r>
              <a:rPr lang="en-US"/>
              <a:t>â€¢ - The prolonged duration of PhD programs (often 5-7 years) can lead to monotony and disinterest in the subject matter.</a:t>
            </a:r>
          </a:p>
          <a:p>
            <a:r>
              <a:rPr lang="en-US"/>
              <a:t>â€¢ - The pressure to publish frequently and maintain a high citation count adds to the stress and monotony experienced by PhD students.</a:t>
            </a:r>
          </a:p>
          <a:p>
            <a:r>
              <a:rPr lang="en-US"/>
              <a:t>â€¢ - PhD students often face limited opportunities for interdisciplinary collaboration, resulting in a narrow focus on a single field.</a:t>
            </a:r>
          </a:p>
          <a:p>
            <a:r>
              <a:rPr lang="en-US"/>
              <a:t>â€¢ - The repetitive nature of grading and feedback processes can become tedious and demotivating over time.</a:t>
            </a:r>
          </a:p>
        </p:txBody>
      </p:sp>
    </p:spTree>
    <p:extLst>
      <p:ext uri="{BB962C8B-B14F-4D97-AF65-F5344CB8AC3E}">
        <p14:creationId xmlns:p14="http://schemas.microsoft.com/office/powerpoint/2010/main" val="14257159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96C68-B93A-EDDC-BA55-9B7B48B24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B. Encourage reevaluation of what a PhD should mean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271F2-6820-95D7-CA34-F18D3CB5B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â€¢ - 🔄 Encourages rethinking the traditional path to academic success and prestige.</a:t>
            </a:r>
          </a:p>
          <a:p>
            <a:r>
              <a:rPr lang="en-US"/>
              <a:t>â€¢ - 🎓 Suggests questioning the necessity of prolonged research and dissertation work for personal growth.</a:t>
            </a:r>
          </a:p>
          <a:p>
            <a:r>
              <a:rPr lang="en-US"/>
              <a:t>â€¢ - 🌟 Promotes the idea that a PhD may not always lead to immediate career advancement or job opportunities.</a:t>
            </a:r>
          </a:p>
          <a:p>
            <a:r>
              <a:rPr lang="en-US"/>
              <a:t>â€¢ - 🧠 Emphasizes the potential for PhD programs to foster critical thinking and creativity, rather than just rote learning.</a:t>
            </a:r>
          </a:p>
          <a:p>
            <a:r>
              <a:rPr lang="en-US"/>
              <a:t>â€¢ - 🔍 Highlights the possibility of redefining success beyond conventional metrics like publications and grants.</a:t>
            </a:r>
          </a:p>
          <a:p>
            <a:r>
              <a:rPr lang="en-US"/>
              <a:t>â€¢ - 💡 Inspires exploring alternative forms of knowledge creation and sharing, such as open-source projects or community-based research.</a:t>
            </a:r>
          </a:p>
          <a:p>
            <a:r>
              <a:rPr lang="en-US"/>
              <a:t>â€¢ - 📚 Urges considering the personal fulfillment that may come from diverse experiences outside the academic sphere during a PhD.</a:t>
            </a:r>
          </a:p>
        </p:txBody>
      </p:sp>
    </p:spTree>
    <p:extLst>
      <p:ext uri="{BB962C8B-B14F-4D97-AF65-F5344CB8AC3E}">
        <p14:creationId xmlns:p14="http://schemas.microsoft.com/office/powerpoint/2010/main" val="7962992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53953-FBB4-B7DA-EDFD-32E6C0EAB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C. Offer alternative career paths for those seeking less academic pursuits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F303E-3923-A20A-CF4A-50BE0ECA6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â€¢ - Exploring non-academic fields such as research and development can provide engaging and practical career opportunities.</a:t>
            </a:r>
          </a:p>
          <a:p>
            <a:r>
              <a:rPr lang="en-US"/>
              <a:t>â€¢ - Professionals in science communication, policy analysis, and science journalism can leverage their academic skills for less rigorous roles.</a:t>
            </a:r>
          </a:p>
          <a:p>
            <a:r>
              <a:rPr lang="en-US"/>
              <a:t>â€¢ - Careers in technology, particularly software development and data analysis, offer lucrative and intellectually stimulating alternatives to traditional PhD work.</a:t>
            </a:r>
          </a:p>
          <a:p>
            <a:r>
              <a:rPr lang="en-US"/>
              <a:t>â€¢ - Fields like environmental consulting and sustainability management utilize scientific knowledge to address real-world problems, providing a fulfilling career path.</a:t>
            </a:r>
          </a:p>
          <a:p>
            <a:r>
              <a:rPr lang="en-US"/>
              <a:t>â€¢ - Creative writing, editing, and publishing can serve as a viable alternative for those interested in combining their academic background with artistic expression.</a:t>
            </a:r>
          </a:p>
          <a:p>
            <a:r>
              <a:rPr lang="en-US"/>
              <a:t>â€¢ - Entrepreneurship offers an opportunity to apply academic knowledge to start businesses, fostering innovation and personal growth.</a:t>
            </a:r>
          </a:p>
          <a:p>
            <a:r>
              <a:rPr lang="en-US"/>
              <a:t>â€¢ - Teaching at the secondary or community college level provides a way to share knowledge while engaging with diverse audiences outside of academia.</a:t>
            </a:r>
          </a:p>
        </p:txBody>
      </p:sp>
    </p:spTree>
    <p:extLst>
      <p:ext uri="{BB962C8B-B14F-4D97-AF65-F5344CB8AC3E}">
        <p14:creationId xmlns:p14="http://schemas.microsoft.com/office/powerpoint/2010/main" val="3194815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4526</Words>
  <Application>Microsoft Office PowerPoint</Application>
  <PresentationFormat>Widescreen</PresentationFormat>
  <Paragraphs>213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Why PhD is boring?</vt:lpstr>
      <vt:lpstr>I. Introduction</vt:lpstr>
      <vt:lpstr>A. Brief overview of the PhD journey</vt:lpstr>
      <vt:lpstr>B. Main theme: Why PhDs can seem boring</vt:lpstr>
      <vt:lpstr>II. The Monotony of Research</vt:lpstr>
      <vt:lpstr>A. Repetitive data collection and analysis</vt:lpstr>
      <vt:lpstr>B. Lack of immediate practical application</vt:lpstr>
      <vt:lpstr>C. Limited scope compared to other fields</vt:lpstr>
      <vt:lpstr>III. Long-term Commitment</vt:lpstr>
      <vt:lpstr>A. Time-intensive process (often 4-7 years)</vt:lpstr>
      <vt:lpstr>B. Financial burden over the duration</vt:lpstr>
      <vt:lpstr>C. Limited career progression opportunities</vt:lpstr>
      <vt:lpstr>IV. Limited Job Market Satisfaction</vt:lpstr>
      <vt:lpstr>A. Uncertainty in post-PhD job availability</vt:lpstr>
      <vt:lpstr>B. Low pay compared to related fields</vt:lpstr>
      <vt:lpstr>C. Perception of PhD as a dead-end profession</vt:lpstr>
      <vt:lpstr>V. Lack of Personal Fulfillment</vt:lpstr>
      <vt:lpstr>A. Difficulty in applying research findings in real-life situations</vt:lpstr>
      <vt:lpstr>B. Isolation from collaborative work environments</vt:lpstr>
      <vt:lpstr>C. Stagnation of personal interests due to rigid academic focus</vt:lpstr>
      <vt:lpstr>VI. The Pressure to Publish</vt:lpstr>
      <vt:lpstr>A. High expectations for research output</vt:lpstr>
      <vt:lpstr>B. Stress and anxiety from the publication process</vt:lpstr>
      <vt:lpstr>C. Overemphasis on quantity over quality of publications</vt:lpstr>
      <vt:lpstr>VII. Conclusion</vt:lpstr>
      <vt:lpstr>A. Summarize key points about PhD monotony</vt:lpstr>
      <vt:lpstr>B. Encourage reevaluation of what a PhD should mean</vt:lpstr>
      <vt:lpstr>C. Offer alternative career paths for those seeking less academic pursuits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WAJEEH UZ ZAMAN</dc:creator>
  <cp:lastModifiedBy>MUHAMMAD WAJEEH UZ ZAMAN</cp:lastModifiedBy>
  <cp:revision>2</cp:revision>
  <dcterms:created xsi:type="dcterms:W3CDTF">2026-02-12T19:56:31Z</dcterms:created>
  <dcterms:modified xsi:type="dcterms:W3CDTF">2026-02-12T19:58:03Z</dcterms:modified>
</cp:coreProperties>
</file>